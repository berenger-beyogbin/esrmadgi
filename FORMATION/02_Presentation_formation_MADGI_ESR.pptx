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0592649e794b93" /><Relationship Type="http://schemas.openxmlformats.org/officeDocument/2006/relationships/extended-properties" Target="/docProps/app.xml" Id="R994e3e477e174b4f" /><Relationship Type="http://schemas.openxmlformats.org/officeDocument/2006/relationships/officeDocument" Target="/ppt/presentation.xml" Id="R4eb9e93a568548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6424cf2577445a"/>
  </p:sldMasterIdLst>
  <p:notesMasterIdLst>
    <p:notesMasterId xmlns:r="http://schemas.openxmlformats.org/officeDocument/2006/relationships" r:id="R250cd102cd3b4eff"/>
  </p:notesMasterIdLst>
  <p:sldIdLst>
    <p:sldId xmlns:r="http://schemas.openxmlformats.org/officeDocument/2006/relationships" id="256" r:id="R0aa5fad42901489d"/>
    <p:sldId xmlns:r="http://schemas.openxmlformats.org/officeDocument/2006/relationships" id="257" r:id="Rdc571918a2d54551"/>
    <p:sldId xmlns:r="http://schemas.openxmlformats.org/officeDocument/2006/relationships" id="258" r:id="R185f849276df4684"/>
    <p:sldId xmlns:r="http://schemas.openxmlformats.org/officeDocument/2006/relationships" id="259" r:id="Rbac7f6953bfe4c21"/>
    <p:sldId xmlns:r="http://schemas.openxmlformats.org/officeDocument/2006/relationships" id="260" r:id="Rf7c05cb836dd4859"/>
    <p:sldId xmlns:r="http://schemas.openxmlformats.org/officeDocument/2006/relationships" id="261" r:id="R119818341eb4494f"/>
    <p:sldId xmlns:r="http://schemas.openxmlformats.org/officeDocument/2006/relationships" id="262" r:id="R355bb92d67064e9a"/>
    <p:sldId xmlns:r="http://schemas.openxmlformats.org/officeDocument/2006/relationships" id="263" r:id="R2d5839998eb74de0"/>
    <p:sldId xmlns:r="http://schemas.openxmlformats.org/officeDocument/2006/relationships" id="264" r:id="Rdfae788079fe4161"/>
    <p:sldId xmlns:r="http://schemas.openxmlformats.org/officeDocument/2006/relationships" id="265" r:id="R013c19c8ce864b5f"/>
    <p:sldId xmlns:r="http://schemas.openxmlformats.org/officeDocument/2006/relationships" id="266" r:id="Rafe9b102664a45d2"/>
    <p:sldId xmlns:r="http://schemas.openxmlformats.org/officeDocument/2006/relationships" id="267" r:id="R93a369e65ead49b2"/>
    <p:sldId xmlns:r="http://schemas.openxmlformats.org/officeDocument/2006/relationships" id="268" r:id="R5fd7fa25dc4d4bcf"/>
    <p:sldId xmlns:r="http://schemas.openxmlformats.org/officeDocument/2006/relationships" id="269" r:id="Ra2fba484d39d42fe"/>
    <p:sldId xmlns:r="http://schemas.openxmlformats.org/officeDocument/2006/relationships" id="270" r:id="R521bb8a85da941cf"/>
    <p:sldId xmlns:r="http://schemas.openxmlformats.org/officeDocument/2006/relationships" id="271" r:id="R6d55d44d08444521"/>
    <p:sldId xmlns:r="http://schemas.openxmlformats.org/officeDocument/2006/relationships" id="272" r:id="R560db8dbab424a51"/>
    <p:sldId xmlns:r="http://schemas.openxmlformats.org/officeDocument/2006/relationships" id="273" r:id="R4aaaf248741b4b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bf84aa4e994b47" /><Relationship Type="http://schemas.openxmlformats.org/officeDocument/2006/relationships/slideMaster" Target="/ppt/slideMasters/slideMaster1.xml" Id="R3a6424cf2577445a" /><Relationship Type="http://schemas.openxmlformats.org/officeDocument/2006/relationships/notesMaster" Target="/ppt/notesMasters/notesMaster1.xml" Id="R250cd102cd3b4eff" /><Relationship Type="http://schemas.openxmlformats.org/officeDocument/2006/relationships/presProps" Target="/ppt/presProps.xml" Id="R1a6d6830c21d425c" /><Relationship Type="http://schemas.openxmlformats.org/officeDocument/2006/relationships/tableStyles" Target="/ppt/tableStyles.xml" Id="R556ff9e593224132" /><Relationship Type="http://schemas.openxmlformats.org/officeDocument/2006/relationships/slide" Target="/ppt/slides/slide1.xml" Id="R0aa5fad42901489d" /><Relationship Type="http://schemas.openxmlformats.org/officeDocument/2006/relationships/slide" Target="/ppt/slides/slide2.xml" Id="Rdc571918a2d54551" /><Relationship Type="http://schemas.openxmlformats.org/officeDocument/2006/relationships/slide" Target="/ppt/slides/slide3.xml" Id="R185f849276df4684" /><Relationship Type="http://schemas.openxmlformats.org/officeDocument/2006/relationships/slide" Target="/ppt/slides/slide4.xml" Id="Rbac7f6953bfe4c21" /><Relationship Type="http://schemas.openxmlformats.org/officeDocument/2006/relationships/slide" Target="/ppt/slides/slide5.xml" Id="Rf7c05cb836dd4859" /><Relationship Type="http://schemas.openxmlformats.org/officeDocument/2006/relationships/slide" Target="/ppt/slides/slide6.xml" Id="R119818341eb4494f" /><Relationship Type="http://schemas.openxmlformats.org/officeDocument/2006/relationships/slide" Target="/ppt/slides/slide7.xml" Id="R355bb92d67064e9a" /><Relationship Type="http://schemas.openxmlformats.org/officeDocument/2006/relationships/slide" Target="/ppt/slides/slide8.xml" Id="R2d5839998eb74de0" /><Relationship Type="http://schemas.openxmlformats.org/officeDocument/2006/relationships/slide" Target="/ppt/slides/slide9.xml" Id="Rdfae788079fe4161" /><Relationship Type="http://schemas.openxmlformats.org/officeDocument/2006/relationships/slide" Target="/ppt/slides/slide10.xml" Id="R013c19c8ce864b5f" /><Relationship Type="http://schemas.openxmlformats.org/officeDocument/2006/relationships/slide" Target="/ppt/slides/slide11.xml" Id="Rafe9b102664a45d2" /><Relationship Type="http://schemas.openxmlformats.org/officeDocument/2006/relationships/slide" Target="/ppt/slides/slide12.xml" Id="R93a369e65ead49b2" /><Relationship Type="http://schemas.openxmlformats.org/officeDocument/2006/relationships/slide" Target="/ppt/slides/slide13.xml" Id="R5fd7fa25dc4d4bcf" /><Relationship Type="http://schemas.openxmlformats.org/officeDocument/2006/relationships/slide" Target="/ppt/slides/slide14.xml" Id="Ra2fba484d39d42fe" /><Relationship Type="http://schemas.openxmlformats.org/officeDocument/2006/relationships/slide" Target="/ppt/slides/slide15.xml" Id="R521bb8a85da941cf" /><Relationship Type="http://schemas.openxmlformats.org/officeDocument/2006/relationships/slide" Target="/ppt/slides/slide16.xml" Id="R6d55d44d08444521" /><Relationship Type="http://schemas.openxmlformats.org/officeDocument/2006/relationships/slide" Target="/ppt/slides/slide17.xml" Id="R560db8dbab424a51" /><Relationship Type="http://schemas.openxmlformats.org/officeDocument/2006/relationships/slide" Target="/ppt/slides/slide18.xml" Id="R4aaaf248741b4b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dfefc3da564a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5e352e92dd4ea6" /><Relationship Type="http://schemas.openxmlformats.org/officeDocument/2006/relationships/notesMaster" Target="/ppt/notesMasters/notesMaster1.xml" Id="R1d469ba247644c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d9380798dd4e5a" /><Relationship Type="http://schemas.openxmlformats.org/officeDocument/2006/relationships/notesMaster" Target="/ppt/notesMasters/notesMaster1.xml" Id="R6993bd49749f4e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d1b17ca2904a59" /><Relationship Type="http://schemas.openxmlformats.org/officeDocument/2006/relationships/notesMaster" Target="/ppt/notesMasters/notesMaster1.xml" Id="R6998f87625be4e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3de5f6a3fc4073" /><Relationship Type="http://schemas.openxmlformats.org/officeDocument/2006/relationships/notesMaster" Target="/ppt/notesMasters/notesMaster1.xml" Id="Raa3c9b7094134a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5a7c78e15747eb" /><Relationship Type="http://schemas.openxmlformats.org/officeDocument/2006/relationships/notesMaster" Target="/ppt/notesMasters/notesMaster1.xml" Id="R7551a49b1b9843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5a097997f74910" /><Relationship Type="http://schemas.openxmlformats.org/officeDocument/2006/relationships/notesMaster" Target="/ppt/notesMasters/notesMaster1.xml" Id="Rbf557bb2f0a945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e33095fba747bf" /><Relationship Type="http://schemas.openxmlformats.org/officeDocument/2006/relationships/notesMaster" Target="/ppt/notesMasters/notesMaster1.xml" Id="R3dab30cb760a4d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3408c0ede64720" /><Relationship Type="http://schemas.openxmlformats.org/officeDocument/2006/relationships/notesMaster" Target="/ppt/notesMasters/notesMaster1.xml" Id="R3f04fea0ab984e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6c26c6c0544164" /><Relationship Type="http://schemas.openxmlformats.org/officeDocument/2006/relationships/notesMaster" Target="/ppt/notesMasters/notesMaster1.xml" Id="Rf70edca0271744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2fc87ed2714940" /><Relationship Type="http://schemas.openxmlformats.org/officeDocument/2006/relationships/notesMaster" Target="/ppt/notesMasters/notesMaster1.xml" Id="R8a7db9ba950440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224e2f279f42ed" /><Relationship Type="http://schemas.openxmlformats.org/officeDocument/2006/relationships/notesMaster" Target="/ppt/notesMasters/notesMaster1.xml" Id="R009076597ee546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9de37ca4f046d1" /><Relationship Type="http://schemas.openxmlformats.org/officeDocument/2006/relationships/notesMaster" Target="/ppt/notesMasters/notesMaster1.xml" Id="R3288c454c8e044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66b41dc2b340e7" /><Relationship Type="http://schemas.openxmlformats.org/officeDocument/2006/relationships/notesMaster" Target="/ppt/notesMasters/notesMaster1.xml" Id="R72f9810a90f24b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b45fae2fd849c8" /><Relationship Type="http://schemas.openxmlformats.org/officeDocument/2006/relationships/notesMaster" Target="/ppt/notesMasters/notesMaster1.xml" Id="R4b0e61c0c21249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4431077852448a" /><Relationship Type="http://schemas.openxmlformats.org/officeDocument/2006/relationships/notesMaster" Target="/ppt/notesMasters/notesMaster1.xml" Id="Rd9f3582324804c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78ded89c4942f6" /><Relationship Type="http://schemas.openxmlformats.org/officeDocument/2006/relationships/notesMaster" Target="/ppt/notesMasters/notesMaster1.xml" Id="R893c6ccf12b849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4e3299a85674b81" /><Relationship Type="http://schemas.openxmlformats.org/officeDocument/2006/relationships/notesMaster" Target="/ppt/notesMasters/notesMaster1.xml" Id="R0d0ee3277b784e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24cf56dbd94abe" /><Relationship Type="http://schemas.openxmlformats.org/officeDocument/2006/relationships/notesMaster" Target="/ppt/notesMasters/notesMaster1.xml" Id="R13923ce4baa84b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Accueillir les participants. Présenter le résultat attendu : être autonome sans compromettre la traçabilité des opérations.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Faire formuler les attentes. Insister sur la distinction entre une opération saisie et une opération encaissée.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le rythme de la journée et annoncer que la pratique occupe la plus grande partie.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Faire identifier le rôle de chaque participant. Relier chaque action sensible au profil habilité.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Montrer les dépendances. Une clôture fiable commence par une fiche adhérent exacte et une période correctement sélectionnée.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Faire une démonstration rapide du tableau de bord et de la recherche par matricule.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Démontrer une recherche existante avant une création. Faire expliquer le risque de doublon.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Montrer la liste des précomptes et leurs statuts. Faire verbaliser les différences entre les états.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Présenter l’ancienne logique métier reprise : capital acquis, capital restant à constituer, nombre de trimestres et arrondi métier.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Expliquer le cas particulier du quatrième trimestre : la date de valeur tombe au 1er janvier de l’année suivante.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Répondre à la question utilisateur : la ligne se trouve dans Validation des paiements. Son statut indique l’action suivante.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Montrer les fenêtres de saisie des références. Insister sur la traçabilité et le rapprochement bancaire.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Télécharger un reçu. Faire vérifier les deux dates et rappeler l’archivage selon la procédure interne.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 pas clôturer la période de démonstration. Montrer le contrôle et expliquer qui est habilité.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Suivre le document 03_Scenario_demonstration. Interroger le groupe après chaque résultat affiché.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Distribuer le support d’exercices. Observer la méthode et les contrôles, pas uniquement le résultat final.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Faire simuler une erreur. Demander quelles informations transmettre au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Conclure par un tour de table. Recueillir les questions restantes et annoncer le suivi à J+7.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Application MADGI ESR : code source local et documentation projet.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65e6930a934a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58105dc4b14012" /><Relationship Type="http://schemas.openxmlformats.org/officeDocument/2006/relationships/slideLayout" Target="/ppt/slideLayouts/slideLayout1.xml" Id="Rc8717dd27d6043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717dd27d6043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3595a83084c72" /><Relationship Type="http://schemas.openxmlformats.org/officeDocument/2006/relationships/notesSlide" Target="/ppt/notesSlides/notesSlide1.xml" Id="R90228801b9e848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b93f58e3446da" /><Relationship Type="http://schemas.openxmlformats.org/officeDocument/2006/relationships/notesSlide" Target="/ppt/notesSlides/notesSlide2.xml" Id="R59c56e4364864d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de0e71c8c4a8e" /><Relationship Type="http://schemas.openxmlformats.org/officeDocument/2006/relationships/notesSlide" Target="/ppt/notesSlides/notesSlide3.xml" Id="R8a69e94313df49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1a9a460524760" /><Relationship Type="http://schemas.openxmlformats.org/officeDocument/2006/relationships/notesSlide" Target="/ppt/notesSlides/notesSlide4.xml" Id="R230957de8ed344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57cc56a804137" /><Relationship Type="http://schemas.openxmlformats.org/officeDocument/2006/relationships/notesSlide" Target="/ppt/notesSlides/notesSlide5.xml" Id="R0730029e5aff47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4a80e5cf5407a" /><Relationship Type="http://schemas.openxmlformats.org/officeDocument/2006/relationships/notesSlide" Target="/ppt/notesSlides/notesSlide6.xml" Id="Rbd3cf7d89aac4a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c73c93ee94414" /><Relationship Type="http://schemas.openxmlformats.org/officeDocument/2006/relationships/notesSlide" Target="/ppt/notesSlides/notesSlide7.xml" Id="Red7bf1772d7747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a514581704391" /><Relationship Type="http://schemas.openxmlformats.org/officeDocument/2006/relationships/notesSlide" Target="/ppt/notesSlides/notesSlide8.xml" Id="R9887473fc95840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05ea28dbb446d" /><Relationship Type="http://schemas.openxmlformats.org/officeDocument/2006/relationships/notesSlide" Target="/ppt/notesSlides/notesSlide9.xml" Id="R82f81dc4886e41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dbc6a783c4dfc" /><Relationship Type="http://schemas.openxmlformats.org/officeDocument/2006/relationships/notesSlide" Target="/ppt/notesSlides/notesSlide10.xml" Id="R1a6b8ef1e60d4f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976e9c8c545bd" /><Relationship Type="http://schemas.openxmlformats.org/officeDocument/2006/relationships/notesSlide" Target="/ppt/notesSlides/notesSlide11.xml" Id="R184a1586c8ae47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ce1e1a6ee4070" /><Relationship Type="http://schemas.openxmlformats.org/officeDocument/2006/relationships/notesSlide" Target="/ppt/notesSlides/notesSlide12.xml" Id="Rbc1b193f9e414bc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49e8254c0431e" /><Relationship Type="http://schemas.openxmlformats.org/officeDocument/2006/relationships/notesSlide" Target="/ppt/notesSlides/notesSlide13.xml" Id="R8d083d2f82bb44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df5284e4d41ee" /><Relationship Type="http://schemas.openxmlformats.org/officeDocument/2006/relationships/notesSlide" Target="/ppt/notesSlides/notesSlide14.xml" Id="R4d47d6ab96a548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7ea1930fe4ae3" /><Relationship Type="http://schemas.openxmlformats.org/officeDocument/2006/relationships/notesSlide" Target="/ppt/notesSlides/notesSlide15.xml" Id="Rc78f244ee3d54c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94f040feb48f5" /><Relationship Type="http://schemas.openxmlformats.org/officeDocument/2006/relationships/notesSlide" Target="/ppt/notesSlides/notesSlide16.xml" Id="R114f1eb62db3430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c99c6629d48ac" /><Relationship Type="http://schemas.openxmlformats.org/officeDocument/2006/relationships/notesSlide" Target="/ppt/notesSlides/notesSlide17.xml" Id="Rb057a5f4f6cc4ef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97898886f4be9" /><Relationship Type="http://schemas.openxmlformats.org/officeDocument/2006/relationships/notesSlide" Target="/ppt/notesSlides/notesSlide18.xml" Id="R597e4f6f9ae34d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A6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7C5F0-1BE9-4188-9891-0ACCF070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789D4-0C85-424C-AD80-6A7C0975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9B2B"/>
                </a:solidFill>
              </a:defRPr>
            </a:pPr>
            <a:r>
              <a:rPr sz="1350" b="1">
                <a:solidFill>
                  <a:srgbClr val="D89B2B"/>
                </a:solidFill>
              </a:rPr>
              <a:t>MADGI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C061F-18A2-4944-9901-5BB95F4F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ÉPARGNE SANTÉ RETRAITE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F6B79-30ED-4EA8-AF3D-660305E2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CE8F8"/>
                </a:solidFill>
              </a:defRPr>
            </a:pPr>
            <a:r>
              <a:rPr sz="2100" b="0">
                <a:solidFill>
                  <a:srgbClr val="DCE8F8"/>
                </a:solidFill>
              </a:rPr>
              <a:t>Présentation &amp; formation utilisateurs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6BC60-B039-431C-9997-5A8811B4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0E8"/>
                </a:solidFill>
              </a:defRPr>
            </a:pPr>
            <a:r>
              <a:rPr sz="1275" b="0">
                <a:solidFill>
                  <a:srgbClr val="BFD0E8"/>
                </a:solidFill>
              </a:rPr>
              <a:t>Parcours opérationnel • Contrôles • Mise en pratique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2AEE0-7F23-4861-B1FA-497F474D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89B2B"/>
                </a:solidFill>
              </a:defRPr>
            </a:pPr>
            <a:r>
              <a:rPr sz="975" b="1">
                <a:solidFill>
                  <a:srgbClr val="D89B2B"/>
                </a:solidFill>
              </a:rPr>
              <a:t>19 AOÛT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F9ABF-361B-4A06-A352-A0B971F8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10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SUPPORT FORMATEUR</a:t>
            </a:r>
          </a:p>
        </p:txBody>
      </p:sp>
    </p:spTree>
    <p:extLst>
      <p:ext uri="{BB962C8B-B14F-4D97-AF65-F5344CB8AC3E}">
        <p14:creationId xmlns:p14="http://schemas.microsoft.com/office/powerpoint/2010/main" val="15509373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994163-FB8E-455B-821D-A5D18269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POINT DE DÉPART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2226A-2D42-40AC-B5C2-CE9F2FDD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À la fin de la journée, vous saurez…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A8116-23E0-466D-8304-6CEBE2C7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6B818-94C8-4586-B90C-710581C8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8EABD-D9C0-4045-9AC3-E70433B2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ED034-2B19-40FB-9792-191CD65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</a:defRPr>
            </a:pPr>
            <a:r>
              <a:rPr sz="1950" b="1">
                <a:solidFill>
                  <a:srgbClr val="2E74B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8905E-E803-49EB-9F74-67B2109A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002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Opérer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70AAE-D18B-4AD2-8874-012FAA59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Créer un adhérent, traiter les cotisations et produire les justificatifs.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15C0E-574A-49CE-9312-E43C353D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A38088-11D3-421F-8F10-D5098A26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812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7A4B"/>
                </a:solidFill>
              </a:defRPr>
            </a:pPr>
            <a:r>
              <a:rPr sz="1950" b="1">
                <a:solidFill>
                  <a:srgbClr val="147A4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FF6CD-28BC-4754-AF2F-90237597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002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Contrôler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A4F42-C321-402D-B617-94C30549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5745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Lire les statuts, vérifier les montants et identifier les blocages.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6B9B4A-BBC3-42E4-9A4B-37A298E9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3F176-BB7C-4B9A-8794-179CB151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89B2B"/>
                </a:solidFill>
              </a:defRPr>
            </a:pPr>
            <a:r>
              <a:rPr sz="1950" b="1">
                <a:solidFill>
                  <a:srgbClr val="D89B2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2B8C8-1824-4674-98F7-D3AE9A97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002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Sécuriser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B0CE1-155D-4FCE-B1C6-C79C0786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5745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Respecter les rôles, la traçabilité et la clôture de période.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ADFDC-8C38-41C7-8DF4-23DB49FC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B7DE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33BA5F-D1CC-48FF-A5F4-825A5C89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91000"/>
            <a:ext cx="1040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A4B"/>
                </a:solidFill>
              </a:defRPr>
            </a:pPr>
            <a:r>
              <a:rPr sz="1350" b="1">
                <a:solidFill>
                  <a:srgbClr val="147A4B"/>
                </a:solidFill>
              </a:rPr>
              <a:t>Objectif collectif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3CF55A-DD13-4D36-A837-F254AE58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43425"/>
            <a:ext cx="1040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Chaque participant réalise au moins trois scénarios pratiques sur quatre.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11817-A55D-4DA3-BDF2-0881D3B6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17621238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A65EF8-38DB-4666-BD6D-9DD8331C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PARCOURS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310CB-6A93-4089-B72E-F986BE3A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Une journée en huit séquences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91E30-C2AD-420C-A4AA-5B29B682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61CA9-165D-4D38-8DF8-5E501B87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E921D-7CD7-4C12-82B0-E017CEF7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242887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D2C14-9888-4C32-8527-901865CD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7A4B"/>
                </a:solidFill>
              </a:defRPr>
            </a:pPr>
            <a:r>
              <a:rPr sz="1950" b="1">
                <a:solidFill>
                  <a:srgbClr val="147A4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3529C-32E5-49CC-B7DA-98403CD7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4787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Connexion &amp; rôles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2FA1F-3967-48C0-B333-D88F4C13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2047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Matin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4270C-15A9-4967-BF83-67726803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57375"/>
            <a:ext cx="242887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F3E17-C6BF-4541-B34F-B7889B46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</a:defRPr>
            </a:pPr>
            <a:r>
              <a:rPr sz="1950" b="1">
                <a:solidFill>
                  <a:srgbClr val="2E74B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48EF2-8F8C-491F-AEDC-D2A4E258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4787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Adhérents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28B8D-9877-49E1-9A1F-15246338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505075"/>
            <a:ext cx="2047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Matin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28E52-E643-4143-8EFD-4E98C4D1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242887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39F38-395E-427B-ACD1-6E543FBC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</a:defRPr>
            </a:pPr>
            <a:r>
              <a:rPr sz="1950" b="1">
                <a:solidFill>
                  <a:srgbClr val="2E74B5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85E6DA-F872-4B38-8C1C-34482A18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4787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Précomptes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036DD-0E8D-4619-81C5-0FB68ADA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05075"/>
            <a:ext cx="2047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Matin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D33A4-D051-4DEE-ABD2-51954984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57375"/>
            <a:ext cx="242887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49C42-E8AD-47A2-8FCA-55DC909F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7A4B"/>
                </a:solidFill>
              </a:defRPr>
            </a:pPr>
            <a:r>
              <a:rPr sz="1950" b="1">
                <a:solidFill>
                  <a:srgbClr val="147A4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9DAF4-74A3-4694-844B-3A26B797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04787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Versement spontané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481F88-38C8-41FB-A2F5-36C77E0E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05075"/>
            <a:ext cx="2047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Matin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9A3C7-662B-455F-9987-2D5245B0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242887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52CCE-0CC0-48ED-AF9C-9C9E1D6D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</a:defRPr>
            </a:pPr>
            <a:r>
              <a:rPr sz="1950" b="1">
                <a:solidFill>
                  <a:srgbClr val="2E74B5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5806E2-E2BD-4A2D-8DA3-7B130211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Workflow chèques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1A23B-CFBA-4A9C-A37F-ACE6C12C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2047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Après-midi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CAE1EA-73A3-4B32-8B85-9E458FDF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76625"/>
            <a:ext cx="242887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F6D08F-E204-46FD-A9CD-10827287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480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</a:defRPr>
            </a:pPr>
            <a:r>
              <a:rPr sz="1950" b="1">
                <a:solidFill>
                  <a:srgbClr val="2E74B5"/>
                </a:solidFill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F949A0-A85A-4FF7-98B4-00114658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66712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Comptes &amp; reçus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294CF6-886C-4419-AA57-F9E7EBB9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24325"/>
            <a:ext cx="2047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Après-midi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35AD50-2410-4FD9-A256-7B9A1B9A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242887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410714-AC94-4BB7-AFD9-EF69C4E9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480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7A4B"/>
                </a:solidFill>
              </a:defRPr>
            </a:pPr>
            <a:r>
              <a:rPr sz="1950" b="1">
                <a:solidFill>
                  <a:srgbClr val="147A4B"/>
                </a:solidFill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0B3A4E-05F4-408C-AFCC-25C289EE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6712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Clôture &amp; reporting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1B6A2F-456B-4145-B888-67EF0274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4325"/>
            <a:ext cx="2047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Après-midi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38D921-5CA1-49BA-B366-EC41A61E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76625"/>
            <a:ext cx="242887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596E4D-91D3-4241-8FEB-29AADB01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480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</a:defRPr>
            </a:pPr>
            <a:r>
              <a:rPr sz="1950" b="1">
                <a:solidFill>
                  <a:srgbClr val="2E74B5"/>
                </a:solidFill>
              </a:rPr>
              <a:t>08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750DD3-6FD9-4F05-A3CA-3C7FBE73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667125"/>
            <a:ext cx="1533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Exercices &amp; QCM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75CCFD-E76E-4A9A-9651-19C0776F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24325"/>
            <a:ext cx="2047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Après-midi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3BC0FB-803F-4873-B622-0E51A2B1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1203372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1909A-839E-46B7-848C-77380B12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ACCÈS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4426A-112F-40BF-9AD2-38731086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Trois rôles, trois niveaux de responsabilité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576CD-AE7B-42BA-8EC8-21B20034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7D750-4BAF-4F4A-9F08-D0DF0EF0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FCA15-DFB1-4837-BAE6-9337941E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AAC47-2556-4CC2-9E33-367987E1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7A4B"/>
                </a:solidFill>
              </a:defRPr>
            </a:pPr>
            <a:r>
              <a:rPr sz="1950" b="1">
                <a:solidFill>
                  <a:srgbClr val="147A4B"/>
                </a:solidFill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BE484-297A-4749-AFCA-C6F3D64E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002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Adhérent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912A1-4319-4993-B5AE-8E3FFDE2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952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Consulte son espace, son historique, ses droits et ses justificatifs.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3ABE2-6023-43DF-AD56-2B8556C1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A8694-E3F5-4650-B4C4-73EF464C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812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</a:defRPr>
            </a:pPr>
            <a:r>
              <a:rPr sz="1950" b="1">
                <a:solidFill>
                  <a:srgbClr val="2E74B5"/>
                </a:solidFill>
              </a:rPr>
              <a:t>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53466-E0EE-42BF-B1DF-577A43A4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002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Gestionnaire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D8F2A-7DE8-4AFE-BF16-2850B9AE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57450"/>
            <a:ext cx="2952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Saisit, contrôle et suit les opérations métier autorisées.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234F6-B7B5-4B16-94CE-B8C5E532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0A2B9-572C-4994-81D7-64AA3817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89B2B"/>
                </a:solidFill>
              </a:defRPr>
            </a:pPr>
            <a:r>
              <a:rPr sz="1950" b="1">
                <a:solidFill>
                  <a:srgbClr val="D89B2B"/>
                </a:solidFill>
              </a:rPr>
              <a:t>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1C517-C5C1-4DA9-825F-15430C76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002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Administrateur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67B0B-92EC-4084-AB06-5B67D3B6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57450"/>
            <a:ext cx="2952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Paramètre, supervise, contrôle et clôture les périodes.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933DC-581E-4642-BA04-5FB052C7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</a:defRPr>
            </a:pPr>
            <a:r>
              <a:rPr sz="1275" b="1">
                <a:solidFill>
                  <a:srgbClr val="B42318"/>
                </a:solidFill>
              </a:rPr>
              <a:t>Principe : un compte nominatif, aucune délégation informelle, aucune validation hors habilitation.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4C6C9-606B-4C85-9BF1-CBFCF74F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7870018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0A684B-E303-4DE6-BC9F-3D30E867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VUE D’ENSEMBLE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F0A0E-3FAD-424D-972B-6790E875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Le cycle opérationnel ESR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CC982-3918-4B72-B253-89DF6D1B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76005-FD4C-472D-9F0C-14C96684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39479-E4FC-42B4-AF6A-B47FDC3C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4CB84-FA3D-4904-88C8-DDAF8356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955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E0F34-3102-4CE7-A260-CC78EB53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Adhérent créé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EBF01-E126-4EA1-9BF8-0F5F9AA6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325" y="24098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31699-88EA-41AC-AEC7-699F43D5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725" y="214312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AE192-4582-47E5-9E19-2980EE99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125" y="22955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E458E-D222-4379-BCA0-52EE225E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025" y="228600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Paramètres de cotisation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D237F-F315-4D3B-897C-2C817536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24098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FA2EC-06AF-4FCA-AFD0-C7B2083F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14312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BFFD6-308A-4EF5-9E1C-D7FA2287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955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01CD7-D53E-44F4-B7AF-86BE2AFF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228600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Période ouverte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313BE-EA3A-46FA-91D3-BAA9311D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4098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5BE2C-0906-4FF4-A730-38E84EA8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14312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A2D87B-1EDE-4C93-835C-B96EA5E2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955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93005-B7DE-436F-B898-A790CF78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8600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Cotisations &amp; paiements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49F96-E506-415E-8C67-9EDA1465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0" y="24098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205A68-5208-4A61-8C73-FED6C44B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14312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D1E66D-E838-4674-AAEB-56EB3E24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22955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7E7608-C390-4587-A0D3-2A0E37A9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950" y="228600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Compte ESR mis à jour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028D44-1AF2-439B-A592-C38F1BBE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225" y="240982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2266AC-AB4E-4755-BB23-2D11C15A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625" y="214312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8B037-91E4-4606-A74A-226E2A25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025" y="22955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A1BAE5-3DDF-43F3-AA59-FB3D29D8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925" y="228600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Contrôles puis clôture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2AC7C8-ECDC-4E02-B22F-65979497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A6A"/>
                </a:solidFill>
              </a:defRPr>
            </a:pPr>
            <a:r>
              <a:rPr sz="1575" b="1">
                <a:solidFill>
                  <a:srgbClr val="173A6A"/>
                </a:solidFill>
              </a:rPr>
              <a:t>Chaque étape produit des données utilisées par la suivante : une erreur amont devient un écart de contrôle en fin de période.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F1499C-D414-4AF2-BCC5-269CDD10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1647044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9EC87A-5DCD-4022-A9FA-7DA88A27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06D16-0067-4E3D-97F2-FBF68B4C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Le bon réflexe : contexte → recherche → action → contrôle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A977E-C97B-47AC-B214-F6EBFC63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2831D-5F05-427F-B04D-3CBCBBD2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8D3B8-B142-4E1C-9F82-6FFC4D4B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06502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A1E18-9459-40E1-ABA1-C6AFF6ED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D9D87-C1B1-4328-96BD-BE62ECAE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43125"/>
            <a:ext cx="14363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Vérifier le rôle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5F695-F6EA-4A22-89CF-694912F0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2266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6E6B8-53D8-45D0-A015-EE382538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2000250"/>
            <a:ext cx="206502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83264-21CC-4AC6-BCC2-A5DF42D1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152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8E0A5-C983-4AD9-A7A3-97EA6D7F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420" y="2143125"/>
            <a:ext cx="14363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Vérifier la période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78E0C-1E1F-43E2-B125-7088F926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2266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E4657-1A04-4D3A-AA4B-3E01A611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000250"/>
            <a:ext cx="206502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879E3-180A-4286-A3D4-B070A2C0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152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46709-A646-41B9-8D7E-DD546BAB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790" y="2143125"/>
            <a:ext cx="14363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Rechercher le matricule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61684-617B-405C-9E2A-8DDD440A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460" y="2266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79673-22AD-4639-AA5A-DBD7A8A9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000250"/>
            <a:ext cx="206502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46CD5-9237-4A74-A583-E2773FDD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152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F5A34-64E7-4E88-9FFF-6570FE0A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160" y="2143125"/>
            <a:ext cx="14363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Exécuter une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70185D-093A-4CD3-8809-FB51726E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830" y="2266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78A31-D99B-45A4-9968-F50B7577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2000250"/>
            <a:ext cx="206502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D0D84-D876-4D98-96D2-7038A9F8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152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1F0C29-5BAB-4FFE-8282-7AA42E3A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530" y="2143125"/>
            <a:ext cx="14363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Relire le résultat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034D75-97EF-4633-BFFF-E7F42443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906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B7DEC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230B87-DFA5-41FF-B526-A3755C28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0"/>
            <a:ext cx="944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A4B"/>
                </a:solidFill>
              </a:defRPr>
            </a:pPr>
            <a:r>
              <a:rPr sz="1350" b="1">
                <a:solidFill>
                  <a:srgbClr val="147A4B"/>
                </a:solidFill>
              </a:rPr>
              <a:t>Avant de cliquer sur Valider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802ADB-B5F0-4B15-8505-2A9F500A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57675"/>
            <a:ext cx="9448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Contrôler toujours l’adhérent, le montant, la date, le moyen de paiement et le statut attendu.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D5224B-73EB-49C4-9C49-12BBAF07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1703072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8ED3F-367E-444D-89A9-AB7A3028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ADHÉRENTS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CBED4-14E5-43EA-8BF2-99AE1490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Créer sans doublon, modifier avec contrôle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B637F-3C65-4B88-934F-F02ABA3C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8936C-E4E5-4B46-9848-10A7B38C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AB20AE-7FE3-45C3-A4D6-F33628E0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328612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12138-4F89-4AC4-A0ED-5301558D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7A4B"/>
                </a:solidFill>
              </a:defRPr>
            </a:pPr>
            <a:r>
              <a:rPr sz="1950" b="1">
                <a:solidFill>
                  <a:srgbClr val="147A4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917AC-56BE-4583-A4E5-B05C9B8C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47875"/>
            <a:ext cx="2390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Rechercher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7D9A8-10C7-4E46-9A4A-5A713CD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29051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Utiliser d’abord le matricule; vérifier nom et prénoms.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8A90E-4115-4602-A763-1DD4A7F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57375"/>
            <a:ext cx="328612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D77C4-91F0-4560-ABA0-61D4AD8A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</a:defRPr>
            </a:pPr>
            <a:r>
              <a:rPr sz="1950" b="1">
                <a:solidFill>
                  <a:srgbClr val="2E74B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6F3B8-BF9F-43CC-AA7B-6746F5A1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47875"/>
            <a:ext cx="2390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Compléter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08D35-DA9E-4EEC-8351-45EDBDE7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05075"/>
            <a:ext cx="29051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Saisir l’identité et les paramètres métier obligatoires.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1FFFD-F7E9-4E25-933E-17F49248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57375"/>
            <a:ext cx="3286125" cy="2333625"/>
          </a:xfrm>
          <a:prstGeom xmlns:a="http://schemas.openxmlformats.org/drawingml/2006/main" prst="roundRect">
            <a:avLst>
              <a:gd name="adj" fmla="val 489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C93E8-9CD0-4245-BA04-6C8AEC7F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89B2B"/>
                </a:solidFill>
              </a:defRPr>
            </a:pPr>
            <a:r>
              <a:rPr sz="1950" b="1">
                <a:solidFill>
                  <a:srgbClr val="D89B2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49256-6669-4450-98B2-F2833E35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47875"/>
            <a:ext cx="2390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Relire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8C083-669A-4A86-A9C4-362DA1A9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05075"/>
            <a:ext cx="29051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Contrôler les champs sensibles et l’historique après enregistrement.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1B323-8217-4681-AC85-F8518B99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Risque principal : opérer sur un homonyme ou créer une seconde fiche pour la même personne.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8552D-C802-4F4F-86FF-D5395DC6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15991204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FBD122-DFCC-48C2-A5C2-01F99C14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COTISATIONS TRIMESTRIELLES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9A48C-3BB2-443E-9C1A-FC0E17D8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Une chaîne de traitement liée à la période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0E7E7-EB7F-4C43-A397-9C505E86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F460A-BE06-499C-A6B5-CE0EF2D1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216E9-5F75-4050-ABA7-B2FA1D48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3475A-2810-469D-AC7D-7DCA2654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6A4CA-4014-4A07-B4BC-5D17F243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Ouvrir / sélectionner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887BC-A2BA-4C55-8FCC-70DA09DF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325" y="23145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3051F-3AFB-4F91-A9F5-A1F724CD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725" y="204787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CC414-A79D-43CC-A7C3-06DA5E17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125" y="22002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843B2-42EA-477A-933D-4E2E8CD6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025" y="219075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Générer les lignes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71103-733A-4684-9A63-A2854C43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23145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F6F1D-E6DF-4070-915E-465E64D3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04787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4B644-938B-4A9A-9952-5ACE2BC0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002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E841A-16D3-468C-8F08-DAF1971E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219075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Exporter / transmettre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3BA48-CE2E-4B1F-AC58-C2A8496B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3145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9A8EC-8BFE-47D7-AF1F-64700AA9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4787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90A58-8474-449F-BC32-3093114D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002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92958-7BBE-423F-B11E-1B375F90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9075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Intégrer les retours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DA8E66-7ABF-43EA-B54E-41513BB6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0" y="23145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E7B8A-E91C-469E-A471-3301769E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04787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33CD22-DB4C-443C-BC00-0BDAAA3D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22002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B26B1A-1937-4F16-9B07-22F7D8B2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950" y="219075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Régulariser les écarts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769EC6-C3D2-4B37-A0E1-5D74FE50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225" y="23145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AB4FD7-E9FC-412B-9F46-DA6E9D2E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625" y="204787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740006-E132-4139-B512-F0EC87A0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025" y="22002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7DD9C1-CFE6-4A67-9B95-5ACCDDB8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925" y="219075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Contrôler avant clôture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D1B959-6F09-47AB-ABF8-E2AEB9A4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576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A6A"/>
                </a:solidFill>
              </a:defRPr>
            </a:pPr>
            <a:r>
              <a:rPr sz="1875" b="1">
                <a:solidFill>
                  <a:srgbClr val="173A6A"/>
                </a:solidFill>
              </a:rPr>
              <a:t>Ne pas confondre : généré ≠ précompté ≠ encaissé ≠ régularisé.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2BF985-DCAC-43B5-9D8C-C564927B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67250"/>
            <a:ext cx="8763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B7DEC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BAAE58-7378-41AD-B9FD-97D0D6D6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57750"/>
            <a:ext cx="830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A4B"/>
                </a:solidFill>
              </a:defRPr>
            </a:pPr>
            <a:r>
              <a:rPr sz="1350" b="1">
                <a:solidFill>
                  <a:srgbClr val="147A4B"/>
                </a:solidFill>
              </a:rPr>
              <a:t>Point de vigilance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D55F88-E852-47EB-84A1-D5F1DC38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10175"/>
            <a:ext cx="830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Une ligne à montant nul ou un paiement en attente doit être analysé avant la clôture.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8A1F51-7DA2-4600-904B-E1791436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16792808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D39D3-D5C3-4C29-BFB6-77F34048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VERSEMENT SPONTANÉ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FCC87-EFCD-442F-8BE5-A31DBE0A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Ce que le logiciel calcule réellement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E6562-FAC1-4E6D-B0BA-A8515B31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FE675-6F10-4E84-8514-1E5F614C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A2DA8-E38E-4732-9393-6CAA45CB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238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A8A2C-FA79-4F62-9365-8AACE822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7A4B"/>
                </a:solidFill>
              </a:defRPr>
            </a:pPr>
            <a:r>
              <a:rPr sz="1950" b="1">
                <a:solidFill>
                  <a:srgbClr val="147A4B"/>
                </a:solidFill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57F3F-7237-4B88-B8E5-70658AB3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002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Capital acquis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14047-9AD6-4547-A786-DA415BD6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2857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Le montant encaissé augmente le capital déjà constitué.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C7C68-20FD-4C42-8259-A99235F0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38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11F5B-D19B-4E9E-B9F3-9CB86A30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</a:defRPr>
            </a:pPr>
            <a:r>
              <a:rPr sz="1950" b="1">
                <a:solidFill>
                  <a:srgbClr val="2E74B5"/>
                </a:solidFill>
              </a:rPr>
              <a:t>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2A42A-CD14-4CCC-958F-5B36E526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002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Besoin restant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B3045-8F86-490D-88B7-6962471D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2857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Le capital cible diminué du capital acquis devient la nouvelle base.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72B5D-F9B5-443C-AD31-DC4E4C1D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238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AD794-5314-40C0-A81E-CC860E18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89B2B"/>
                </a:solidFill>
              </a:defRPr>
            </a:pPr>
            <a:r>
              <a:rPr sz="1950" b="1">
                <a:solidFill>
                  <a:srgbClr val="D89B2B"/>
                </a:solidFill>
              </a:rPr>
              <a:t>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67430-CE5D-4368-B10B-7C998759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02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Nouvelle échéance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44E77-B834-4ED6-985C-E812EF32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857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Le montant trimestriel est recalculé selon le taux et les trimestres restants.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26ED1-9EBA-4E36-BAE2-6FA76A82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42318"/>
                </a:solidFill>
              </a:defRPr>
            </a:pPr>
            <a:r>
              <a:rPr sz="1575" b="1">
                <a:solidFill>
                  <a:srgbClr val="B42318"/>
                </a:solidFill>
              </a:rPr>
              <a:t>Ce n’est pas une soustraction directe du versement sur l’échéance du trimestre en cours.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E8F9B0-91A1-4D2E-BAFE-28A8CA08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5248458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98DCED-7218-420F-822F-CD637DB9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DATE DE VALEUR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28633-AE02-4379-AE60-FA68B51E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Premier jour du trimestre suivant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7694E-DAA7-402C-9490-1357A659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5796A-460F-463E-841A-2803AA54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4F5EC-48AD-465C-99B7-DA289D3E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2860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5460D-1CD9-4B0D-9F04-2F0CB1A3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7A4B"/>
                </a:solidFill>
              </a:defRPr>
            </a:pPr>
            <a:r>
              <a:rPr sz="1800" b="1">
                <a:solidFill>
                  <a:srgbClr val="147A4B"/>
                </a:solidFill>
              </a:rPr>
              <a:t>T1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282E6-FD84-449F-989F-9FDBD73B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6A"/>
                </a:solidFill>
              </a:defRPr>
            </a:pPr>
            <a:r>
              <a:rPr sz="1725" b="1">
                <a:solidFill>
                  <a:srgbClr val="173A6A"/>
                </a:solidFill>
              </a:rPr>
              <a:t>01/04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6DE21-7E95-42C9-AE48-C25B6AF5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2860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3F762-73F5-40C3-B6F6-B8D1E557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33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7A4B"/>
                </a:solidFill>
              </a:defRPr>
            </a:pPr>
            <a:r>
              <a:rPr sz="1800" b="1">
                <a:solidFill>
                  <a:srgbClr val="147A4B"/>
                </a:solidFill>
              </a:rPr>
              <a:t>T2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F1A273-2E7D-46EE-BF85-83823121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575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6A"/>
                </a:solidFill>
              </a:defRPr>
            </a:pPr>
            <a:r>
              <a:rPr sz="1725" b="1">
                <a:solidFill>
                  <a:srgbClr val="173A6A"/>
                </a:solidFill>
              </a:rPr>
              <a:t>01/07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A9965-62DA-4006-AD65-66CFAA28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2860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34EE9D-05AE-456B-BB6E-BDA0F4B2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7A4B"/>
                </a:solidFill>
              </a:defRPr>
            </a:pPr>
            <a:r>
              <a:rPr sz="1800" b="1">
                <a:solidFill>
                  <a:srgbClr val="147A4B"/>
                </a:solidFill>
              </a:rPr>
              <a:t>T3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8A99F-6409-44B8-A638-4457F530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6A"/>
                </a:solidFill>
              </a:defRPr>
            </a:pPr>
            <a:r>
              <a:rPr sz="1725" b="1">
                <a:solidFill>
                  <a:srgbClr val="173A6A"/>
                </a:solidFill>
              </a:rPr>
              <a:t>01/10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A24A6-7288-4B7B-86D1-43A52A85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22860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892EB-D1DD-48F3-939E-015C6D23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7A4B"/>
                </a:solidFill>
              </a:defRPr>
            </a:pPr>
            <a:r>
              <a:rPr sz="1800" b="1">
                <a:solidFill>
                  <a:srgbClr val="147A4B"/>
                </a:solidFill>
              </a:rPr>
              <a:t>T4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E92E77-A0D0-4E22-A90D-670DF147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A6A"/>
                </a:solidFill>
              </a:defRPr>
            </a:pPr>
            <a:r>
              <a:rPr sz="1725" b="1">
                <a:solidFill>
                  <a:srgbClr val="173A6A"/>
                </a:solidFill>
              </a:rPr>
              <a:t>01/01 année suivante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BA979-882E-4BA4-8600-AEDD58B7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A6A"/>
                </a:solidFill>
              </a:defRPr>
            </a:pPr>
            <a:r>
              <a:rPr sz="1650" b="1">
                <a:solidFill>
                  <a:srgbClr val="173A6A"/>
                </a:solidFill>
              </a:rPr>
              <a:t>Sur les reçus et les écrans de consultation : JJ/MM/AAAA.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853F7-35C2-4761-8719-2690B97B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15130386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C92CC3-1D58-43C7-8DE8-BC17DFD1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PAIEMENT PAR CHÈQUE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78095-0B1D-462A-9ADA-3E727448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La ligne reste visible jusqu’à la décision finale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2EB68-3ECB-4F47-AB58-CDE5AD36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7F518-9D1E-42A0-9B8C-4EACCB2C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22799-BF59-46EB-820C-BD40A47B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5DB18-5A2D-46FA-8778-0C3D57B4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4D62C-F927-49BC-B347-0A21A9D3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43125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SAISI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26955-87C7-416A-AAAD-5AC9EC4D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325" y="2266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03F4E-0893-409F-956C-997B87F1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725" y="2000250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E35A5-0F73-440E-A115-8D91AF42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125" y="2152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31855-AE08-4746-A042-09982DE7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025" y="2143125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CONTRÔLÉ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61EA7-AA57-4B3F-8378-F0AFDCEE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2266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27A83-83C9-4963-BBEF-D19A687E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000250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47D6D-03CF-480C-900E-5CC966E9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152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79331-4761-4DA1-8F05-D5F2893F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2143125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DÉPOSÉ BANQUE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6352E-9F39-4286-B017-508CCC3C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266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6F922-4880-48CD-82F1-000238D0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00250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AE1D8-44E7-44D2-8FD9-3DEEB47E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52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67D4FA-4B4E-4C25-8BA9-939092B3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43125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COMPENSÉ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368138-AB13-4FE4-B2CC-EA0BE76F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0" y="2266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25EBC-9953-473A-A1B8-7E5FF387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000250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79C516-35B3-4C64-B0B3-E0FB320A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2152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3F5E3C-B8BF-47F4-9CFE-720C6665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950" y="2143125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VALIDÉ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B32EB3-DF35-46A7-ABBE-C54785A1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225" y="2266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B092D-94C0-404C-8180-6254F09C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625" y="2000250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737BAA-3DA1-4A91-B82F-623F8E23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025" y="21526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CE6CD8-F360-40A2-8D3D-94FE40B6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925" y="2143125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ENCAISSÉ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4FCCD1-1ADD-4257-98AA-73703840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94297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B7DEC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1A6ECD-1106-4612-8A4B-02C65D5D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810000"/>
            <a:ext cx="897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A4B"/>
                </a:solidFill>
              </a:defRPr>
            </a:pPr>
            <a:r>
              <a:rPr sz="1350" b="1">
                <a:solidFill>
                  <a:srgbClr val="147A4B"/>
                </a:solidFill>
              </a:rPr>
              <a:t>Capitalisation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8E93F4-10BF-475D-8247-E22B00BE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162425"/>
            <a:ext cx="897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Le compte ESR est crédité et le reçu devient disponible uniquement au statut ENCAISSÉ.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AF0FBB-3C7A-41F5-AE45-A19B5B6D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4350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Alternative depuis DÉPOSÉ BANQUE : IMPAYÉ + motif de rejet.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60BE42-EE8E-4F2A-ADFD-05DC20AF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12614559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2F853-A7EB-46B3-8B5B-D8D09791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TRAÇABILITÉ BANCAIRE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B1941-B223-4FD5-A4A6-849C5357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Deux références rendent le chèque vérifiable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08A96-B8DD-4288-90AB-BC857794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A214F-9DD8-44CE-9FB8-AC3CA4CF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6B3FF-48FB-47A4-B176-69BC1D70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05000"/>
            <a:ext cx="4572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A9F59-581E-4087-B2E0-F446C531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</a:defRPr>
            </a:pPr>
            <a:r>
              <a:rPr sz="1950" b="1">
                <a:solidFill>
                  <a:srgbClr val="2E74B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D3852-10EC-4F78-9E7F-25F52275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955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Dépôt en banque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3CCCB-D552-40D7-82CF-627EF79F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52700"/>
            <a:ext cx="4191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Référence du bordereau</a:t>
            </a:r>
          </a:p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Date de dépôt</a:t>
            </a:r>
          </a:p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Statut DÉPOSÉ BANQUE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5D389-B1AA-4B75-BEAB-56CF0AD5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5720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8AAB74-119E-4937-8CED-883A945D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7A4B"/>
                </a:solidFill>
              </a:defRPr>
            </a:pPr>
            <a:r>
              <a:rPr sz="1950" b="1">
                <a:solidFill>
                  <a:srgbClr val="147A4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514DE-FCF1-4DB6-821E-6DDD52AC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95500"/>
            <a:ext cx="3676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Compensation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0952B-F0BE-4FAF-8183-70CD0257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52700"/>
            <a:ext cx="4191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Référence de l’avis de crédit</a:t>
            </a:r>
          </a:p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Date de compensation</a:t>
            </a:r>
          </a:p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Statut COMPENSÉ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E49DA-706A-4BC1-9175-5EF93F57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42318"/>
                </a:solidFill>
              </a:defRPr>
            </a:pPr>
            <a:r>
              <a:rPr sz="1575" b="1">
                <a:solidFill>
                  <a:srgbClr val="B42318"/>
                </a:solidFill>
              </a:rPr>
              <a:t>Sans ces preuves, ne pas faire progresser artificiellement le workflow.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5EAC9A-E2D5-4E81-9C1B-0EC2703D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16309800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63207-496E-4A7C-B892-E71DEA79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COMPTE ESR &amp; REÇU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056D3-F1D6-4810-9DD7-9EAFC697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Contrôler le résultat, puis remettre le justificatif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6CC7F-23CB-4777-A24C-4B066D19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BD52D-00AA-41B1-8562-81A33068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30E81-912F-44F5-948D-948E6516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0DE2A-1773-4D41-89E5-9B1EDBF4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</a:defRPr>
            </a:pPr>
            <a:r>
              <a:rPr sz="1950" b="1">
                <a:solidFill>
                  <a:srgbClr val="2E74B5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D4C01-F54E-4F01-B17C-6326E5BB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4787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Mouvement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E84D2-2474-497C-A058-8C7DA469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295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Montant, origine, période, statut et date de valeur.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760AA-575A-46CF-95F6-22BE5E17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57375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97A41-A32F-4E9E-BE08-F43CE214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7A4B"/>
                </a:solidFill>
              </a:defRPr>
            </a:pPr>
            <a:r>
              <a:rPr sz="1950" b="1">
                <a:solidFill>
                  <a:srgbClr val="147A4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82D50-47E6-441C-B6B0-DB3CB7A9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4787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Capital acquis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21D48-2DDC-456A-9782-60517C01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295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Le total reflète uniquement les opérations effectivement encaissées.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476D6F-382E-47FD-A510-0FBB40C1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57375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7EF41-06D0-4846-BDF9-11D38441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2882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89B2B"/>
                </a:solidFill>
              </a:defRPr>
            </a:pPr>
            <a:r>
              <a:rPr sz="1950" b="1">
                <a:solidFill>
                  <a:srgbClr val="D89B2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3D5FC3-C5E4-42AB-BE75-F7145AE6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A6A"/>
                </a:solidFill>
              </a:defRPr>
            </a:pPr>
            <a:r>
              <a:rPr sz="1350" b="1">
                <a:solidFill>
                  <a:srgbClr val="173A6A"/>
                </a:solidFill>
              </a:rPr>
              <a:t>Reçu 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8A83A-08D6-4118-ACD5-5C6EA755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05075"/>
            <a:ext cx="295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83"/>
                </a:solidFill>
              </a:defRPr>
            </a:pPr>
            <a:r>
              <a:rPr sz="1050" b="0">
                <a:solidFill>
                  <a:srgbClr val="637083"/>
                </a:solidFill>
              </a:rPr>
              <a:t>Nom, matricule, montant, paiement et date de valeur en JJ/MM/AAAA.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7E6F2F-7E47-498C-9D2F-85891E0F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2749704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69C244-67C4-41CF-8422-311F4F2A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CLÔTURE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5E0F5-44AF-4D5A-8840-3AC55C77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Une décision définitive précédée de contrôles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8C5D7-888B-446A-8D5E-296ABBA6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3C800C-65C9-4103-AF96-25E1D0C4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1C60C-C66C-4D3B-928B-E960DE97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6502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E03CD-463F-4B6D-B851-D1B1BD20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4E418-C4BD-4EB0-A6D1-3C939FA5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38375"/>
            <a:ext cx="14363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Lancer le contrôle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3C010-AA40-4807-A579-B6FD6E4F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23622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97C9C-04E9-44CF-B5DD-C3CD3C2D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2095500"/>
            <a:ext cx="206502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E67FE-1A52-4300-9A19-803ECE66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2479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65FA7-3969-4ADD-8351-7E3B1EAF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420" y="2238375"/>
            <a:ext cx="14363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Lire les alertes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D44CF-B088-4E94-8C77-FB47F0D8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23622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C12C5-B120-4D20-A364-FA4C9559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095500"/>
            <a:ext cx="206502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66FAB-ADF3-43CE-A872-DC1B5ADD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2479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95D2D-ED01-4970-962A-662733DE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790" y="2238375"/>
            <a:ext cx="14363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Corriger les blocages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03417-85B6-4E60-8C5F-7C6B59D7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460" y="23622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96E9FE-3012-43CF-8AF8-1D692DC0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095500"/>
            <a:ext cx="206502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8991C-FBF4-4E41-9D80-1E5B2FE4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2479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F042B-42E0-464B-9592-C52FAE9D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160" y="2238375"/>
            <a:ext cx="14363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Faire valider les états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6F03CC-E517-4836-99F7-E9D0AD1B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830" y="23622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AB11A-8FFD-490B-8F05-0B177B9D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2095500"/>
            <a:ext cx="206502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AFC68B-BE9C-4F7A-AF3A-2615CBA3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2479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6365F-DDF1-4112-A9D0-F6930335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530" y="2238375"/>
            <a:ext cx="14363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Clôturer avec le bon rôle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1627D-9228-4B14-8E6A-897B5C71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933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2318"/>
                </a:solidFill>
              </a:defRPr>
            </a:pPr>
            <a:r>
              <a:rPr sz="1650" b="1">
                <a:solidFill>
                  <a:srgbClr val="B42318"/>
                </a:solidFill>
              </a:rPr>
              <a:t>Clôture impossible = alerte métier non levée ou profil non habilité.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6E82DE-B7AC-4C97-8CBA-F6386284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B7DEC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409822-07F8-427C-9AB0-F9164F9F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A4B"/>
                </a:solidFill>
              </a:defRPr>
            </a:pPr>
            <a:r>
              <a:rPr sz="1350" b="1">
                <a:solidFill>
                  <a:srgbClr val="147A4B"/>
                </a:solidFill>
              </a:rPr>
              <a:t>À vérifier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7F8ACD-C815-4508-8266-8B2BB559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868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Paiements en attente • anomalies de précompte • montants incohérents • régularisations • période sélectionnée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EF63E1-8028-40A6-8F5D-489B0AFD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1277035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18546C-5318-4738-B5F4-BC7F94CC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DÉMONSTRATION GUIDÉE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623855-4799-4A07-BAD6-3FC9BA6D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Le parcours que nous allons exécuter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6840A-C7D6-48B1-9BEB-95AB097F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13E8F-718A-471C-9070-DDD9742F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0BF2E-7E90-4BC6-A772-2CC97B1E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D49BC-0074-4F2B-BF70-A9DD07F2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2C158-142C-4ABB-8787-0783C9AF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Ouvrir un adhérent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396C3-E64F-4C36-B369-43ACB5D0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325" y="23145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3F863-2ED8-4846-BC4C-AF475971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725" y="204787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FABF7-BEA6-4150-9367-293FA6F2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125" y="22002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F97A5-53F7-46EE-876F-4ACB917B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025" y="219075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Lire son trimestre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15CEC-76E0-4135-BA14-4748BDF5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300" y="23145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5211D-7F82-4A20-B57C-8DC5071A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04787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C8EB2-F4CA-4FEE-AFD8-361AB2F6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2002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84A12D-DE48-4E3E-8F11-0FFBC04D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219075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Verser 500 000 FCFA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69F0A-5EBB-4C9E-928B-9A415C8A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3145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80DC9-1FAF-4153-901B-E778EBD5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04787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880E9-913D-4EB9-B657-E9C28656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002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321C31-67A3-4BB3-9EB8-8DB6CE16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9075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Traiter un chèque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EF80B-ACDA-49D7-8C88-490FFCC8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0" y="23145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2E5A0A-3635-40E8-954B-8BDF3871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204787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C051F-DDF8-4065-84F9-D32C6A97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22002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49E4B6-7A1B-40B4-B7C7-9DB03523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950" y="219075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Télécharger le reçu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EBAEFD-09CA-473F-9BC2-3AE6B54C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225" y="23145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DCE7FC-4B80-4BB8-B0B4-4A1AF760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625" y="2047875"/>
            <a:ext cx="16986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A9AD91-706F-44EB-B6E0-A439C4BE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9025" y="220027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E5CD91-82C0-49C3-89C8-C108627D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925" y="2190750"/>
            <a:ext cx="106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Contrôler la clôture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80069A-80BD-46AB-908C-5D5B9029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5762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A6A"/>
                </a:solidFill>
              </a:defRPr>
            </a:pPr>
            <a:r>
              <a:rPr sz="1575" b="1">
                <a:solidFill>
                  <a:srgbClr val="173A6A"/>
                </a:solidFill>
              </a:rPr>
              <a:t>Pendant la démonstration, notez le contrôle métier associé à chaque clic.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914901-314C-4775-AB35-B94335AA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21053813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34C919-C7D6-467D-BA5E-3D41FAD0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MISE EN PRATIQUE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E38A0-EED2-4084-BC97-1845E059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Quatre missions, 20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3555B-87A6-4923-A76B-A07EDEDB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D9AEF-AB36-4447-BF4D-0B82EE8E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0E9B74-890F-4854-B3EF-8C68FDBD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0958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2E91F-E489-484D-B2D5-B2351FE2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74B5"/>
                </a:solidFill>
              </a:defRPr>
            </a:pPr>
            <a:r>
              <a:rPr sz="1425" b="1">
                <a:solidFill>
                  <a:srgbClr val="2E74B5"/>
                </a:solidFill>
              </a:rPr>
              <a:t>4 pts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87514-D213-4050-8CD3-5CA0898F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0193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A6A"/>
                </a:solidFill>
              </a:defRPr>
            </a:pPr>
            <a:r>
              <a:rPr sz="1500" b="1">
                <a:solidFill>
                  <a:srgbClr val="173A6A"/>
                </a:solidFill>
              </a:rPr>
              <a:t>Identifier un adhérent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E70D5-A076-4F39-A5A9-10AF8313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09750"/>
            <a:ext cx="50958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CA871-8FA5-425B-B1F2-01632148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193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74B5"/>
                </a:solidFill>
              </a:defRPr>
            </a:pPr>
            <a:r>
              <a:rPr sz="1425" b="1">
                <a:solidFill>
                  <a:srgbClr val="2E74B5"/>
                </a:solidFill>
              </a:rPr>
              <a:t>6 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2673C-1EE0-4F59-A8CD-26A727CA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193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A6A"/>
                </a:solidFill>
              </a:defRPr>
            </a:pPr>
            <a:r>
              <a:rPr sz="1500" b="1">
                <a:solidFill>
                  <a:srgbClr val="173A6A"/>
                </a:solidFill>
              </a:rPr>
              <a:t>Saisir un versement spontané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DD3B7-391A-4BD7-8914-AA8DB2AD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50958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7D979-2C63-4A5B-B84A-E9889848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47A4B"/>
                </a:solidFill>
              </a:defRPr>
            </a:pPr>
            <a:r>
              <a:rPr sz="1425" b="1">
                <a:solidFill>
                  <a:srgbClr val="147A4B"/>
                </a:solidFill>
              </a:rPr>
              <a:t>6 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03E34-3F29-4463-A75B-82C20D31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7338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A6A"/>
                </a:solidFill>
              </a:defRPr>
            </a:pPr>
            <a:r>
              <a:rPr sz="1500" b="1">
                <a:solidFill>
                  <a:srgbClr val="173A6A"/>
                </a:solidFill>
              </a:rPr>
              <a:t>Traiter un chèque de bout en bout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31026-68B4-444E-B713-E9E86C33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24250"/>
            <a:ext cx="50958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42519-86D8-4BD7-9DCD-84A7E0B9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7338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74B5"/>
                </a:solidFill>
              </a:defRPr>
            </a:pPr>
            <a:r>
              <a:rPr sz="1425" b="1">
                <a:solidFill>
                  <a:srgbClr val="2E74B5"/>
                </a:solidFill>
              </a:rPr>
              <a:t>4 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14155-1EAD-4781-82FD-EA066EBF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A6A"/>
                </a:solidFill>
              </a:defRPr>
            </a:pPr>
            <a:r>
              <a:rPr sz="1500" b="1">
                <a:solidFill>
                  <a:srgbClr val="173A6A"/>
                </a:solidFill>
              </a:rPr>
              <a:t>Analyser une clôture bloquée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33B46-774D-49F4-917A-A3D626AD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5458728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70459F-9E98-4771-93A1-F14996D3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4B"/>
                </a:solidFill>
              </a:defRPr>
            </a:pPr>
            <a:r>
              <a:rPr sz="975" b="1">
                <a:solidFill>
                  <a:srgbClr val="147A4B"/>
                </a:solidFill>
              </a:rPr>
              <a:t>INCIDENTS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0D3FF-99D6-4674-A94E-10312809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A6A"/>
                </a:solidFill>
              </a:defRPr>
            </a:pPr>
            <a:r>
              <a:rPr sz="2550" b="1">
                <a:solidFill>
                  <a:srgbClr val="173A6A"/>
                </a:solidFill>
              </a:rPr>
              <a:t>Les cinq réflexes qui évitent les doubles opérations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2E44B-2B82-4C4B-93F6-45B6EFB1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2B"/>
          </a:solidFill>
          <a:ln xmlns:a="http://schemas.openxmlformats.org/drawingml/2006/main" w="0">
            <a:solidFill>
              <a:srgbClr val="D89B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67004-7617-469D-8E80-DCFA7818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572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37083"/>
                </a:solidFill>
              </a:defRPr>
            </a:pPr>
            <a:r>
              <a:rPr sz="975" b="1">
                <a:solidFill>
                  <a:srgbClr val="637083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01102-2BB9-43EA-BC51-598E5E12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06502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E36D6-A65B-4391-B6AF-5D92CA4E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4F3D0-B2D4-4C96-9FEB-4BDEE903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38375"/>
            <a:ext cx="14363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Lire le message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9F74D-5F92-449F-A5EF-62FB69C7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23622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29BC6-E88B-426D-80A3-76A2EC49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120" y="2095500"/>
            <a:ext cx="206502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5B682-2F6F-42E4-ABBE-9304D346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2479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F1A5C-85E0-4F3A-99F7-23CE38BA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420" y="2238375"/>
            <a:ext cx="14363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Noter l’heure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4C9C3-B3C3-497B-832D-FA285A6A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23622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E278C-CF94-44DA-A0B4-5A3B405F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095500"/>
            <a:ext cx="206502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8F102-5B43-4BA0-B2EC-2954F3DF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2479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B99F3-D4B3-4907-8BD5-CC1B3715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790" y="2238375"/>
            <a:ext cx="14363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Vérifier liste &amp; statut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9372E-3002-427D-953F-B0C20E01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460" y="23622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C1219-F2EF-4862-A112-4BD5B5B2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095500"/>
            <a:ext cx="206502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26717-76E8-4FC4-B0BB-34B4847F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2479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5758DD-72D1-4C5F-B6A2-4C09B1C3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7160" y="2238375"/>
            <a:ext cx="14363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Faire une capture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AACD84-D548-476A-B72F-A4206578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830" y="23622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89B2B"/>
                </a:solidFill>
              </a:defRPr>
            </a:pPr>
            <a:r>
              <a:rPr sz="1500" b="1">
                <a:solidFill>
                  <a:srgbClr val="D89B2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E0601-4E74-4ABB-935F-3FC4BFE3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2095500"/>
            <a:ext cx="206502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7D321-8680-4B79-B080-731974BC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2479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4B"/>
                </a:solidFill>
              </a:defRPr>
            </a:pPr>
            <a:r>
              <a:rPr sz="1500" b="1">
                <a:solidFill>
                  <a:srgbClr val="147A4B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866C4-228A-489B-8D9A-4B81473B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5530" y="2238375"/>
            <a:ext cx="143637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3A6A"/>
                </a:solidFill>
              </a:defRPr>
            </a:pPr>
            <a:r>
              <a:rPr sz="1125" b="1">
                <a:solidFill>
                  <a:srgbClr val="173A6A"/>
                </a:solidFill>
              </a:rPr>
              <a:t>Contacter le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481406-6FD5-46B9-BED5-00AFF4F4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528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42318"/>
                </a:solidFill>
              </a:defRPr>
            </a:pPr>
            <a:r>
              <a:rPr sz="1575" b="1">
                <a:solidFill>
                  <a:srgbClr val="B42318"/>
                </a:solidFill>
              </a:rPr>
              <a:t>Ne cliquez pas plusieurs fois sur Valider et ne recréez pas l’opération avant d’avoir vérifié son existence.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5071E-C5E7-446A-A6C5-61B47561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83"/>
                </a:solidFill>
              </a:defRPr>
            </a:pPr>
            <a:r>
              <a:rPr sz="750" b="0">
                <a:solidFill>
                  <a:srgbClr val="637083"/>
                </a:solidFill>
              </a:rPr>
              <a:t>MADGI ESR • Formation utilisateurs</a:t>
            </a:r>
          </a:p>
        </p:txBody>
      </p:sp>
    </p:spTree>
    <p:extLst>
      <p:ext uri="{BB962C8B-B14F-4D97-AF65-F5344CB8AC3E}">
        <p14:creationId xmlns:p14="http://schemas.microsoft.com/office/powerpoint/2010/main" val="5864978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3A6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2C5BE-01CF-484C-AED5-5935CBC1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9B2B"/>
                </a:solidFill>
              </a:defRPr>
            </a:pPr>
            <a:r>
              <a:rPr sz="1200" b="1">
                <a:solidFill>
                  <a:srgbClr val="D89B2B"/>
                </a:solidFill>
              </a:rPr>
              <a:t>MADGI ESR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C43C6B-99BE-4F86-B8A6-05B24447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Vous êtes prêts à opérer, contrôler et sécuriser.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708F3-7382-4AA5-8928-A7E56A7E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CE8F8"/>
                </a:solidFill>
              </a:defRPr>
            </a:pPr>
            <a:r>
              <a:rPr sz="1650" b="0">
                <a:solidFill>
                  <a:srgbClr val="DCE8F8"/>
                </a:solidFill>
              </a:rPr>
              <a:t>Prochaine étape : exercices pratiques, QCM et engagement de mise en œuvre.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ED973-6BD3-4577-AB47-7497A7CE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858500" cy="809625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204A82"/>
          </a:solidFill>
          <a:ln xmlns:a="http://schemas.openxmlformats.org/drawingml/2006/main" w="9525">
            <a:solidFill>
              <a:srgbClr val="315B9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A28CC-71AA-4097-B095-A67AB909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Règle finale : aucune opération sensible sans identité, période, montant, preuve et statut vérifiés.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93530-43F3-4C88-985A-36DB34B7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9B2B"/>
                </a:solidFill>
              </a:defRPr>
            </a:pPr>
            <a:r>
              <a:rPr sz="1050" b="1">
                <a:solidFill>
                  <a:srgbClr val="D89B2B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271613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2026-08-19T06:44:35.8310000Z</dcterms:created>
  <dcterms:modified xsi:type="dcterms:W3CDTF">2026-08-19T06:44:35.8310000Z</dcterms:modified>
</coreProperties>
</file>